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6391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3"/>
          </a:solidFill>
          <a:ln w="12700">
            <a:solidFill>
              <a:srgbClr val="F2F7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0E2A24"/>
          </a:solidFill>
          <a:ln w="12700">
            <a:solidFill>
              <a:srgbClr val="0E2A24"/>
            </a:solidFill>
            <a:prstDash val="solid"/>
          </a:ln>
        </p:spPr>
      </p:sp>
      <p:pic>
        <p:nvPicPr>
          <p:cNvPr id="4" name="Image 0" descr="C:\Users\ASUS\Documents\Codex\2026-05-07\files-mentioned-by-the-user-docx\report_media\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75488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F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数据结构与算法设计（C++描述）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58368" y="2011680"/>
            <a:ext cx="34290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校园地理信息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管理系统</a:t>
            </a:r>
            <a:endParaRPr lang="en-US" sz="3300" dirty="0"/>
          </a:p>
        </p:txBody>
      </p:sp>
      <p:sp>
        <p:nvSpPr>
          <p:cNvPr id="7" name="Shape 4"/>
          <p:cNvSpPr/>
          <p:nvPr/>
        </p:nvSpPr>
        <p:spPr>
          <a:xfrm>
            <a:off x="713232" y="3685032"/>
            <a:ext cx="1508760" cy="0"/>
          </a:xfrm>
          <a:prstGeom prst="line">
            <a:avLst/>
          </a:prstGeom>
          <a:noFill/>
          <a:ln w="38100">
            <a:solidFill>
              <a:srgbClr val="F2A65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39136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9DE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C++ / EasyX / 自主动态顺序表 SeqList&lt;T&gt;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09160" y="621792"/>
            <a:ext cx="6839712" cy="525780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12700">
            <a:solidFill>
              <a:srgbClr val="B7D4C7"/>
            </a:solidFill>
            <a:prstDash val="solid"/>
          </a:ln>
        </p:spPr>
      </p:sp>
      <p:pic>
        <p:nvPicPr>
          <p:cNvPr id="11" name="Image 1" descr="C:\Users\ASUS\Documents\Codex\2026-05-07\files-mentioned-by-the-user-docx\report_media\image1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5736" y="658368"/>
            <a:ext cx="6766560" cy="51846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5989320"/>
            <a:ext cx="6839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程序主界面：校园地图与建筑信息可视化</a:t>
            </a:r>
            <a:endParaRPr lang="en-US" sz="9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0844525-BB56-4140-A0B9-3BFF0A0711B0}"/>
              </a:ext>
            </a:extLst>
          </p:cNvPr>
          <p:cNvSpPr txBox="1"/>
          <p:nvPr/>
        </p:nvSpPr>
        <p:spPr>
          <a:xfrm>
            <a:off x="679704" y="4823567"/>
            <a:ext cx="3108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小组：</a:t>
            </a:r>
            <a:r>
              <a:rPr lang="en-US" altLang="zh-CN" dirty="0" err="1">
                <a:solidFill>
                  <a:schemeClr val="bg1"/>
                </a:solidFill>
              </a:rPr>
              <a:t>BigWork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成员：孙嘉铮，石盛喆，张寒宇，孟德源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F6B"/>
          </a:solidFill>
          <a:ln w="12700">
            <a:solidFill>
              <a:srgbClr val="2F8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F8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基本情况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基本情况：题目内容与约束条件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11155680" cy="0"/>
          </a:xfrm>
          <a:prstGeom prst="line">
            <a:avLst/>
          </a:prstGeom>
          <a:noFill/>
          <a:ln w="12700">
            <a:solidFill>
              <a:srgbClr val="D6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6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数据结构与算法设计（C++描述）  |  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25780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7190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8F6B"/>
                </a:solidFill>
              </a:rPr>
              <a:t>题目内容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2148840"/>
            <a:ext cx="4553712" cy="2331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设计并实现“校园地理信息管理系统”。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管理多张校园地图及各类建筑物数据。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支持建筑添加、删除、修改、展示与悬浮提示。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通过本地 txt 文件保存和导入地图状态。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46520" y="1417320"/>
            <a:ext cx="5074920" cy="4343400"/>
          </a:xfrm>
          <a:prstGeom prst="roundRect">
            <a:avLst>
              <a:gd name="adj" fmla="val 1263"/>
            </a:avLst>
          </a:prstGeom>
          <a:solidFill>
            <a:srgbClr val="FFF8ED"/>
          </a:solidFill>
          <a:ln w="12700">
            <a:solidFill>
              <a:srgbClr val="F0D4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7190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95C16"/>
                </a:solidFill>
              </a:rPr>
              <a:t>基本要求与约束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720840" y="2148840"/>
            <a:ext cx="4343400" cy="2331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使用 C++ 完成数据结构与算法综合应用。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图形界面基于 EasyX 实现。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数据结构不依赖 STL，核心容器自主封装。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要求程序模块清晰、运行稳定、能处理异常输入。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F6B"/>
          </a:solidFill>
          <a:ln w="12700">
            <a:solidFill>
              <a:srgbClr val="2F8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F8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基本情况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小组成员分工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11155680" cy="0"/>
          </a:xfrm>
          <a:prstGeom prst="line">
            <a:avLst/>
          </a:prstGeom>
          <a:noFill/>
          <a:ln w="12700">
            <a:solidFill>
              <a:srgbClr val="D6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6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数据结构与算法设计（C++描述）  | 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40080" y="126187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根据最新分工，按数据结构、界面呈现、菜单功能与整体联调四个方向展开协作。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8356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1488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350" b="1" dirty="0">
                <a:solidFill>
                  <a:srgbClr val="2F8F6B"/>
                </a:solidFill>
              </a:rPr>
              <a:t>孙</a:t>
            </a:r>
            <a:r>
              <a:rPr lang="en-US" sz="1350" b="1" dirty="0">
                <a:solidFill>
                  <a:srgbClr val="2F8F6B"/>
                </a:solidFill>
              </a:rPr>
              <a:t>嘉</a:t>
            </a:r>
            <a:r>
              <a:rPr lang="zh-CN" altLang="en-US" sz="1350" b="1" dirty="0">
                <a:solidFill>
                  <a:srgbClr val="2F8F6B"/>
                </a:solidFill>
              </a:rPr>
              <a:t>铮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993392" y="210312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14213D"/>
                </a:solidFill>
              </a:rPr>
              <a:t>数据结构与核心校验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4096512" y="1801368"/>
            <a:ext cx="6812280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63238"/>
                </a:solidFill>
              </a:rPr>
              <a:t>设计并实现 SeqList&lt;T&gt; 顺序表：动态扩容、增删改查；设计并实现 LinkedList&lt;T&gt; 单链表：节点增删、遍历；定义 Building、CampusMap、AppState 结构体；实现冲突检测（AABB 矩形重叠算法）、越界判断；编写数据结构单元测试，保证接口正确；辅助完成 file_io。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58368" y="2980944"/>
            <a:ext cx="10835640" cy="987552"/>
          </a:xfrm>
          <a:prstGeom prst="roundRect">
            <a:avLst>
              <a:gd name="adj" fmla="val 5556"/>
            </a:avLst>
          </a:prstGeom>
          <a:solidFill>
            <a:srgbClr val="EEF7F2"/>
          </a:solidFill>
          <a:ln w="12700">
            <a:solidFill>
              <a:srgbClr val="CDE7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3741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350" b="1" dirty="0">
                <a:solidFill>
                  <a:srgbClr val="2F8F6B"/>
                </a:solidFill>
                <a:latin typeface="+mj-lt"/>
              </a:rPr>
              <a:t>孟德源</a:t>
            </a:r>
            <a:endParaRPr lang="en-US" sz="1350" b="1" dirty="0">
              <a:solidFill>
                <a:srgbClr val="2F8F6B"/>
              </a:solidFill>
              <a:latin typeface="+mj-l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993392" y="3328416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14213D"/>
                </a:solidFill>
              </a:rPr>
              <a:t>地图显示与 UI 风格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4096512" y="3118104"/>
            <a:ext cx="681228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263238"/>
                </a:solidFill>
              </a:rPr>
              <a:t>建筑信息列表（格式化表格输出）；ASCII 地图渲染，将坐标缩放映射到字符画布地图；图例、坐标轴、边框美化；建筑详情展示（模拟鼠标悬停效果）；整体 UI 风格统一，包括标题、提示语和错误信息格式。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658368" y="4114800"/>
            <a:ext cx="108356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5262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350" b="1" dirty="0">
                <a:solidFill>
                  <a:srgbClr val="2F8F6B"/>
                </a:solidFill>
              </a:rPr>
              <a:t>石盛喆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993392" y="44805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14213D"/>
                </a:solidFill>
              </a:rPr>
              <a:t>菜单与功能实现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4096512" y="4251960"/>
            <a:ext cx="68122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263238"/>
                </a:solidFill>
              </a:rPr>
              <a:t>完成 menu，实现主菜单循环框架；功能1：创建地图（输入校验、地图编号管理）；功能2：增加建筑（调用 A 的冲突检测接口）；功能4：删除建筑；功能5：修改建筑（逐字段修改，修改后重新验证）；输入容错处理（非法输入、数字校验等）。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658368" y="5285232"/>
            <a:ext cx="10835640" cy="621792"/>
          </a:xfrm>
          <a:prstGeom prst="roundRect">
            <a:avLst>
              <a:gd name="adj" fmla="val 8824"/>
            </a:avLst>
          </a:prstGeom>
          <a:solidFill>
            <a:srgbClr val="EEF7F2"/>
          </a:solidFill>
          <a:ln w="12700">
            <a:solidFill>
              <a:srgbClr val="CDE7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54955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350" b="1" dirty="0">
                <a:solidFill>
                  <a:srgbClr val="2F8F6B"/>
                </a:solidFill>
              </a:rPr>
              <a:t>张寒宇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993392" y="544982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14213D"/>
                </a:solidFill>
              </a:rPr>
              <a:t>整体联调与文档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4096512" y="5422392"/>
            <a:ext cx="68122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263238"/>
                </a:solidFill>
              </a:rPr>
              <a:t>完成 main 函数调用与整体联调；完成 PPT 和报告撰写；完成集成测试。</a:t>
            </a:r>
            <a:endParaRPr lang="en-US" sz="9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F6B"/>
          </a:solidFill>
          <a:ln w="12700">
            <a:solidFill>
              <a:srgbClr val="2F8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F8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设计与实现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设计思想：数据驱动地图显示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11155680" cy="0"/>
          </a:xfrm>
          <a:prstGeom prst="line">
            <a:avLst/>
          </a:prstGeom>
          <a:noFill/>
          <a:ln w="12700">
            <a:solidFill>
              <a:srgbClr val="D6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6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数据结构与算法设计（C++描述）  |  4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58368" y="1371600"/>
            <a:ext cx="3291840" cy="452628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pic>
        <p:nvPicPr>
          <p:cNvPr id="8" name="Image 0" descr="C:\Users\ASUS\Documents\Codex\2026-05-07\files-mentioned-by-the-user-docx\report_media\image2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4944" y="1408176"/>
            <a:ext cx="3218688" cy="44531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89120" y="1600200"/>
            <a:ext cx="63550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53712" y="1792224"/>
            <a:ext cx="384048" cy="329184"/>
          </a:xfrm>
          <a:prstGeom prst="roundRect">
            <a:avLst>
              <a:gd name="adj" fmla="val 44444"/>
            </a:avLst>
          </a:prstGeom>
          <a:solidFill>
            <a:srgbClr val="2F8F6B"/>
          </a:solidFill>
          <a:ln w="12700">
            <a:solidFill>
              <a:srgbClr val="2F8F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08576" y="186537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166360" y="171907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抽象地点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46520" y="1719072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63238"/>
                </a:solidFill>
              </a:rPr>
              <a:t>将校区、地图、建筑抽象为结构体/类对象。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4389120" y="2587752"/>
            <a:ext cx="6355080" cy="713232"/>
          </a:xfrm>
          <a:prstGeom prst="roundRect">
            <a:avLst>
              <a:gd name="adj" fmla="val 7692"/>
            </a:avLst>
          </a:prstGeom>
          <a:solidFill>
            <a:srgbClr val="FFF8ED"/>
          </a:solidFill>
          <a:ln w="12700">
            <a:solidFill>
              <a:srgbClr val="F0D4A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53712" y="2779776"/>
            <a:ext cx="384048" cy="329184"/>
          </a:xfrm>
          <a:prstGeom prst="roundRect">
            <a:avLst>
              <a:gd name="adj" fmla="val 44444"/>
            </a:avLst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08576" y="285292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166360" y="270662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统一管理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46520" y="2706624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63238"/>
                </a:solidFill>
              </a:rPr>
              <a:t>使用线性表集中保存对象，形成可遍历的数据源。</a:t>
            </a:r>
            <a:endParaRPr lang="en-US" sz="1320" dirty="0"/>
          </a:p>
        </p:txBody>
      </p:sp>
      <p:sp>
        <p:nvSpPr>
          <p:cNvPr id="19" name="Shape 16"/>
          <p:cNvSpPr/>
          <p:nvPr/>
        </p:nvSpPr>
        <p:spPr>
          <a:xfrm>
            <a:off x="4389120" y="3575304"/>
            <a:ext cx="63550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53712" y="3767328"/>
            <a:ext cx="384048" cy="329184"/>
          </a:xfrm>
          <a:prstGeom prst="roundRect">
            <a:avLst>
              <a:gd name="adj" fmla="val 44444"/>
            </a:avLst>
          </a:prstGeom>
          <a:solidFill>
            <a:srgbClr val="2F8F6B"/>
          </a:solidFill>
          <a:ln w="12700">
            <a:solidFill>
              <a:srgbClr val="2F8F6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08576" y="384048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166360" y="369417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图形渲染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446520" y="3694176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63238"/>
                </a:solidFill>
              </a:rPr>
              <a:t>EasyX 根据对象坐标与尺寸绘制建筑色块和文字。</a:t>
            </a:r>
            <a:endParaRPr lang="en-US" sz="1320" dirty="0"/>
          </a:p>
        </p:txBody>
      </p:sp>
      <p:sp>
        <p:nvSpPr>
          <p:cNvPr id="24" name="Shape 21"/>
          <p:cNvSpPr/>
          <p:nvPr/>
        </p:nvSpPr>
        <p:spPr>
          <a:xfrm>
            <a:off x="4389120" y="4562856"/>
            <a:ext cx="6355080" cy="713232"/>
          </a:xfrm>
          <a:prstGeom prst="roundRect">
            <a:avLst>
              <a:gd name="adj" fmla="val 7692"/>
            </a:avLst>
          </a:prstGeom>
          <a:solidFill>
            <a:srgbClr val="FFF8ED"/>
          </a:solidFill>
          <a:ln w="12700">
            <a:solidFill>
              <a:srgbClr val="F0D4A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53712" y="4754880"/>
            <a:ext cx="384048" cy="329184"/>
          </a:xfrm>
          <a:prstGeom prst="roundRect">
            <a:avLst>
              <a:gd name="adj" fmla="val 44444"/>
            </a:avLst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08576" y="482803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166360" y="468172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交互反馈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446520" y="4681728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63238"/>
                </a:solidFill>
              </a:rPr>
              <a:t>用户点击、悬停、导入、保存后重新渲染界面。</a:t>
            </a:r>
            <a:endParaRPr lang="en-US" sz="13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F6B"/>
          </a:solidFill>
          <a:ln w="12700">
            <a:solidFill>
              <a:srgbClr val="2F8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F8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设计与实现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主要数据结构：泛型动态顺序表 SeqList&lt;T&gt;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11155680" cy="0"/>
          </a:xfrm>
          <a:prstGeom prst="line">
            <a:avLst/>
          </a:prstGeom>
          <a:noFill/>
          <a:ln w="12700">
            <a:solidFill>
              <a:srgbClr val="D6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6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数据结构与算法设计（C++描述）  |  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58368" y="12344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</a:rPr>
              <a:t>底层采用自主实现的连续存储容器，用三个核心成员变量管理数组状态。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828800"/>
            <a:ext cx="1828800" cy="1371600"/>
          </a:xfrm>
          <a:prstGeom prst="roundRect">
            <a:avLst>
              <a:gd name="adj" fmla="val 4000"/>
            </a:avLst>
          </a:prstGeom>
          <a:solidFill>
            <a:srgbClr val="E3F3EA"/>
          </a:solidFill>
          <a:ln w="12700">
            <a:solidFill>
              <a:srgbClr val="B7DE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02996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8F6B"/>
                </a:solidFill>
              </a:rPr>
              <a:t>data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0120" y="2615184"/>
            <a:ext cx="14630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238"/>
                </a:solidFill>
              </a:rPr>
              <a:t>指向堆区数组首地址，保存地图或建筑对象。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53512" y="1828800"/>
            <a:ext cx="1828800" cy="1371600"/>
          </a:xfrm>
          <a:prstGeom prst="roundRect">
            <a:avLst>
              <a:gd name="adj" fmla="val 4000"/>
            </a:avLst>
          </a:prstGeom>
          <a:solidFill>
            <a:srgbClr val="E9F0FF"/>
          </a:solidFill>
          <a:ln w="12700">
            <a:solidFill>
              <a:srgbClr val="BDD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36392" y="202996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D6CDF"/>
                </a:solidFill>
              </a:rPr>
              <a:t>len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136392" y="2615184"/>
            <a:ext cx="14630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238"/>
                </a:solidFill>
              </a:rPr>
              <a:t>记录当前已存储元素个数。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29784" y="1828800"/>
            <a:ext cx="1828800" cy="1371600"/>
          </a:xfrm>
          <a:prstGeom prst="roundRect">
            <a:avLst>
              <a:gd name="adj" fmla="val 4000"/>
            </a:avLst>
          </a:prstGeom>
          <a:solidFill>
            <a:srgbClr val="FFF8ED"/>
          </a:solidFill>
          <a:ln w="12700">
            <a:solidFill>
              <a:srgbClr val="F0D4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12664" y="202996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9A5E1E"/>
                </a:solidFill>
              </a:rPr>
              <a:t>cap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312664" y="2615184"/>
            <a:ext cx="14630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63238"/>
                </a:solidFill>
              </a:rPr>
              <a:t>记录当前数组最大容量。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52360" y="1645920"/>
            <a:ext cx="3886200" cy="3456432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54112" y="1938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F6B"/>
                </a:solidFill>
              </a:rPr>
              <a:t>动态扩容策略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54112" y="2395728"/>
            <a:ext cx="297180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插入前若 len == cap，则触发 expand()。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容量 &lt;= 10000 时采用 cap * 2 + 1。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容量 &gt; 10000 时每次固定增加 1000。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新建数组后深拷贝旧数据，并释放旧空间。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F6B"/>
          </a:solidFill>
          <a:ln w="12700">
            <a:solidFill>
              <a:srgbClr val="2F8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F8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设计与实现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算法设计：建筑添加与冲突拦截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11155680" cy="0"/>
          </a:xfrm>
          <a:prstGeom prst="line">
            <a:avLst/>
          </a:prstGeom>
          <a:noFill/>
          <a:ln w="12700">
            <a:solidFill>
              <a:srgbClr val="D6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6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数据结构与算法设计（C++描述）  |  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58368" y="1325880"/>
            <a:ext cx="3886200" cy="4681728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pic>
        <p:nvPicPr>
          <p:cNvPr id="8" name="Image 0" descr="C:\Users\ASUS\Documents\Codex\2026-05-07\files-mentioned-by-the-user-docx\report_media\image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4944" y="1362456"/>
            <a:ext cx="3813048" cy="46085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10912" y="1463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</a:rPr>
              <a:t>核心判断流程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010912" y="1874520"/>
            <a:ext cx="5989320" cy="2651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读取建筑名称、坐标、宽高等输入数据。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先做合法性检查：非空、非负、未越界。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遍历当前地图建筑顺序表，判断名称重复与矩形重叠。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校验通过后写入 SeqList，并触发 EasyX 重新绘制。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校验失败时弹窗提示，不修改底层数据。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10912" y="4873752"/>
            <a:ext cx="5989320" cy="685800"/>
          </a:xfrm>
          <a:prstGeom prst="roundRect">
            <a:avLst>
              <a:gd name="adj" fmla="val 8000"/>
            </a:avLst>
          </a:prstGeom>
          <a:solidFill>
            <a:srgbClr val="EAF7F1"/>
          </a:solidFill>
          <a:ln w="12700">
            <a:solidFill>
              <a:srgbClr val="B7DEC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85232" y="5074920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F8F6B"/>
                </a:solidFill>
              </a:rPr>
              <a:t>算法价值：把“数据合法性”放在写入线性表之前，保证显示层不会渲染错误建筑。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F6B"/>
          </a:solidFill>
          <a:ln w="12700">
            <a:solidFill>
              <a:srgbClr val="2F8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F8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设计与实现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核心代码：扩容与重叠检测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11155680" cy="0"/>
          </a:xfrm>
          <a:prstGeom prst="line">
            <a:avLst/>
          </a:prstGeom>
          <a:noFill/>
          <a:ln w="12700">
            <a:solidFill>
              <a:srgbClr val="D6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6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数据结构与算法设计（C++描述）  |  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94944" y="122529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8F6B"/>
                </a:solidFill>
              </a:rPr>
              <a:t>重叠检测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920240"/>
            <a:ext cx="49560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inline bool CampusMap::is_not_conflict(const Building&amp; a, const Building&amp; b) {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((a.x + a.length &lt;= b.x) || (a.x &gt;= b.x + b.length) ||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(a.y + a.width  &lt;= b.y) || (a.y &gt;= b.y + b.width));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658368" y="3822192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FFF8ED"/>
          </a:solidFill>
          <a:ln w="12700">
            <a:solidFill>
              <a:srgbClr val="F0D4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041648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995C16"/>
                </a:solidFill>
              </a:rPr>
              <a:t>判断思路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1938528" y="3968496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263238"/>
                </a:solidFill>
              </a:rPr>
              <a:t>函数返回“不冲突”的条件：两个建筑在横向或纵向至少有一个方向完全分离；四个分离条件都不成立时即发生重叠。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6903720" y="122529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8F6B"/>
                </a:solidFill>
              </a:rPr>
              <a:t>扩容实现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73952" y="1572768"/>
            <a:ext cx="4736592" cy="4407408"/>
          </a:xfrm>
          <a:prstGeom prst="roundRect">
            <a:avLst>
              <a:gd name="adj" fmla="val 124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11696" y="1773936"/>
            <a:ext cx="43434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T&gt;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SeqList&lt;T&gt;::push_back(const T&amp; e) {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(capacity == size) {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(capacity &lt;= 10000) {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newCapacity = capacity * 2 + 1;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T* newElements = new T[newCapacity];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(int i = 0; i &lt; size; i++) {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newElements[i] = elements[i];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delete[] elements;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elements = newElements;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capacity = newCapacity;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else {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newCapacity = size + 1000;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T* newElements = new T[newCapacity];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(int i = 0; i &lt; size; i++) {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newElements[i] = elements[i];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delete[] elements;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elements = newElements;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capacity = newCapacity;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elements[size] = e;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size++;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F6B"/>
          </a:solidFill>
          <a:ln w="12700">
            <a:solidFill>
              <a:srgbClr val="2F8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F8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设计与实现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实现效果：多校区地图与图形化交互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11155680" cy="0"/>
          </a:xfrm>
          <a:prstGeom prst="line">
            <a:avLst/>
          </a:prstGeom>
          <a:noFill/>
          <a:ln w="12700">
            <a:solidFill>
              <a:srgbClr val="D6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6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数据结构与算法设计（C++描述）  |  8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58368" y="1325880"/>
            <a:ext cx="5230368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pic>
        <p:nvPicPr>
          <p:cNvPr id="8" name="Image 0" descr="C:\Users\ASUS\Documents\Codex\2026-05-07\files-mentioned-by-the-user-docx\report_media\image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4944" y="1362456"/>
            <a:ext cx="5157216" cy="20756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36208" y="1325880"/>
            <a:ext cx="5230368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pic>
        <p:nvPicPr>
          <p:cNvPr id="10" name="Image 1" descr="C:\Users\ASUS\Documents\Codex\2026-05-07\files-mentioned-by-the-user-docx\report_media\image9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72784" y="1362456"/>
            <a:ext cx="5157216" cy="207568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58368" y="3767328"/>
            <a:ext cx="5230368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pic>
        <p:nvPicPr>
          <p:cNvPr id="12" name="Image 2" descr="C:\Users\ASUS\Documents\Codex\2026-05-07\files-mentioned-by-the-user-docx\report_media\image8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94944" y="3803904"/>
            <a:ext cx="5157216" cy="20756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236208" y="3767328"/>
            <a:ext cx="5230368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pic>
        <p:nvPicPr>
          <p:cNvPr id="14" name="Image 3" descr="C:\Users\ASUS\Documents\Codex\2026-05-07\files-mentioned-by-the-user-docx\report_media\image1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72784" y="3803904"/>
            <a:ext cx="5157216" cy="20756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103120" y="606247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建筑悬浮信息、校区切换列表、不同校区视图和主界面渲染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F6B"/>
          </a:solidFill>
          <a:ln w="12700">
            <a:solidFill>
              <a:srgbClr val="2F8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F8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测试与结论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测试环境与测试数据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11155680" cy="0"/>
          </a:xfrm>
          <a:prstGeom prst="line">
            <a:avLst/>
          </a:prstGeom>
          <a:noFill/>
          <a:ln w="12700">
            <a:solidFill>
              <a:srgbClr val="D6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6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数据结构与算法设计（C++描述）  |  9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49808" y="1481328"/>
            <a:ext cx="3017520" cy="3401568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7739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8F6B"/>
                </a:solidFill>
              </a:rPr>
              <a:t>测试环境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4128" y="2267712"/>
            <a:ext cx="233172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Windows 11 操作系统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Visual Studio 2022 C++ 编译器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第三方 EasyX 图形库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本地 txt 文件保存/导入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1481328"/>
            <a:ext cx="3017520" cy="3401568"/>
          </a:xfrm>
          <a:prstGeom prst="roundRect">
            <a:avLst>
              <a:gd name="adj" fmla="val 1818"/>
            </a:avLst>
          </a:prstGeom>
          <a:solidFill>
            <a:srgbClr val="E9F0FF"/>
          </a:solidFill>
          <a:ln w="12700">
            <a:solidFill>
              <a:srgbClr val="BDD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7739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6CDF"/>
                </a:solidFill>
              </a:rPr>
              <a:t>测试数据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09160" y="2267712"/>
            <a:ext cx="233172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北校区、东校区、南校区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教学楼、图书馆、食堂、操场等建筑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建筑坐标、宽高、名称信息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异常输入与边界数据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19872" y="1481328"/>
            <a:ext cx="3017520" cy="3401568"/>
          </a:xfrm>
          <a:prstGeom prst="roundRect">
            <a:avLst>
              <a:gd name="adj" fmla="val 1818"/>
            </a:avLst>
          </a:prstGeom>
          <a:solidFill>
            <a:srgbClr val="FFF8ED"/>
          </a:solidFill>
          <a:ln w="12700">
            <a:solidFill>
              <a:srgbClr val="F0D4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94192" y="17739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95C16"/>
                </a:solidFill>
              </a:rPr>
              <a:t>覆盖目标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94192" y="2267712"/>
            <a:ext cx="233172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正常添加与绘制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名称重复与重叠冲突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地图导入、保存、切换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鼠标悬浮坐标映射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F6B"/>
          </a:solidFill>
          <a:ln w="12700">
            <a:solidFill>
              <a:srgbClr val="2F8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F8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测试与结论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 1：建筑重叠冲突拦截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11155680" cy="0"/>
          </a:xfrm>
          <a:prstGeom prst="line">
            <a:avLst/>
          </a:prstGeom>
          <a:noFill/>
          <a:ln w="12700">
            <a:solidFill>
              <a:srgbClr val="D6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6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数据结构与算法设计（C++描述）  |  10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58368" y="1298448"/>
            <a:ext cx="5897880" cy="434340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D7B7B7"/>
            </a:solidFill>
            <a:prstDash val="solid"/>
          </a:ln>
        </p:spPr>
      </p:sp>
      <p:pic>
        <p:nvPicPr>
          <p:cNvPr id="8" name="Image 0" descr="C:\Users\ASUS\Documents\Codex\2026-05-07\files-mentioned-by-the-user-docx\report_media\image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4944" y="1335024"/>
            <a:ext cx="5824728" cy="42702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67728" y="1444752"/>
            <a:ext cx="420624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60336" y="1737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4B4B"/>
                </a:solidFill>
              </a:rPr>
              <a:t>测试操作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260336" y="2148840"/>
            <a:ext cx="3493008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在坐标 (0,0) 添加“建筑1 教学楼”。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继续在同一坐标添加“建筑2”。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观察系统是否拒绝写入和渲染。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7260336" y="3822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F6B"/>
                </a:solidFill>
              </a:rPr>
              <a:t>测试结果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260336" y="4206240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263238"/>
                </a:solidFill>
              </a:rPr>
              <a:t>系统弹窗提示添加失败，建筑2未被渲染，说明名称/重叠/边界拦截逻辑生效。</a:t>
            </a:r>
            <a:endParaRPr lang="en-US" sz="12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F6B"/>
          </a:solidFill>
          <a:ln w="12700">
            <a:solidFill>
              <a:srgbClr val="2F8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F8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测试与结论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 2：导入、切换地图与保存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11155680" cy="0"/>
          </a:xfrm>
          <a:prstGeom prst="line">
            <a:avLst/>
          </a:prstGeom>
          <a:noFill/>
          <a:ln w="12700">
            <a:solidFill>
              <a:srgbClr val="D6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6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数据结构与算法设计（C++描述）  |  11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58368" y="1298448"/>
            <a:ext cx="5212080" cy="2084832"/>
          </a:xfrm>
          <a:prstGeom prst="roundRect">
            <a:avLst>
              <a:gd name="adj" fmla="val 2193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pic>
        <p:nvPicPr>
          <p:cNvPr id="8" name="Image 0" descr="C:\Users\ASUS\Documents\Codex\2026-05-07\files-mentioned-by-the-user-docx\report_media\image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4944" y="1335024"/>
            <a:ext cx="5138928" cy="2011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3694176"/>
            <a:ext cx="5212080" cy="2084832"/>
          </a:xfrm>
          <a:prstGeom prst="roundRect">
            <a:avLst>
              <a:gd name="adj" fmla="val 2193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pic>
        <p:nvPicPr>
          <p:cNvPr id="10" name="Image 1" descr="C:\Users\ASUS\Documents\Codex\2026-05-07\files-mentioned-by-the-user-docx\report_media\image1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4944" y="3730752"/>
            <a:ext cx="5138928" cy="20116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00800" y="1325880"/>
            <a:ext cx="48006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720840" y="1664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8F6B"/>
                </a:solidFill>
              </a:rPr>
              <a:t>测试操作与结果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720840" y="2148840"/>
            <a:ext cx="3977640" cy="2606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点击“导入”读取本地地图数据，系统提示成功。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通过“切换地图”依次选择北校区、东校区、南校区。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不同校区边界和建筑色块可立即重新绘制。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鼠标悬浮提示与当前校区坐标系保持一致。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点击“保存”后无报错，并弹出成功确认。</a:t>
            </a:r>
            <a:endParaRPr lang="en-US" sz="1340" dirty="0"/>
          </a:p>
        </p:txBody>
      </p:sp>
      <p:sp>
        <p:nvSpPr>
          <p:cNvPr id="14" name="Shape 10"/>
          <p:cNvSpPr/>
          <p:nvPr/>
        </p:nvSpPr>
        <p:spPr>
          <a:xfrm>
            <a:off x="6720840" y="5166360"/>
            <a:ext cx="4069080" cy="411480"/>
          </a:xfrm>
          <a:prstGeom prst="roundRect">
            <a:avLst>
              <a:gd name="adj" fmla="val 13333"/>
            </a:avLst>
          </a:prstGeom>
          <a:solidFill>
            <a:srgbClr val="EAF7F1"/>
          </a:solidFill>
          <a:ln w="12700">
            <a:solidFill>
              <a:srgbClr val="B7DEC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931152" y="529437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F8F6B"/>
                </a:solidFill>
              </a:rPr>
              <a:t>结论：持久化模块与多地图管理功能稳定。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F6B"/>
          </a:solidFill>
          <a:ln w="12700">
            <a:solidFill>
              <a:srgbClr val="2F8F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F8F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总结与思考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总结与思考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42416"/>
            <a:ext cx="11155680" cy="0"/>
          </a:xfrm>
          <a:prstGeom prst="line">
            <a:avLst/>
          </a:prstGeom>
          <a:noFill/>
          <a:ln w="12700">
            <a:solidFill>
              <a:srgbClr val="D6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6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数据结构与算法设计（C++描述）  |  12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49808" y="1508760"/>
            <a:ext cx="3154680" cy="4224528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47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8F6B"/>
                </a:solidFill>
              </a:rPr>
              <a:t>难点要点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395728"/>
            <a:ext cx="2578608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多层级“校区-地图-建筑”数据组织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动态扩容与内存安全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线性表数据和 EasyX 窗口同步渲染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98848" y="1508760"/>
            <a:ext cx="3154680" cy="4224528"/>
          </a:xfrm>
          <a:prstGeom prst="roundRect">
            <a:avLst>
              <a:gd name="adj" fmla="val 1739"/>
            </a:avLst>
          </a:prstGeom>
          <a:solidFill>
            <a:srgbClr val="E3F3EA"/>
          </a:solidFill>
          <a:ln w="12700">
            <a:solidFill>
              <a:srgbClr val="B7DE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847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8F6B"/>
                </a:solidFill>
              </a:rPr>
              <a:t>算法特点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54880" y="2395728"/>
            <a:ext cx="2578608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自主 SeqList&lt;T&gt;，不依赖 STL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分段扩容兼顾效率和内存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先校验后写入，避免错误状态进入界面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47888" y="1508760"/>
            <a:ext cx="3154680" cy="4224528"/>
          </a:xfrm>
          <a:prstGeom prst="roundRect">
            <a:avLst>
              <a:gd name="adj" fmla="val 1739"/>
            </a:avLst>
          </a:prstGeom>
          <a:solidFill>
            <a:srgbClr val="FFF8ED"/>
          </a:solidFill>
          <a:ln w="12700">
            <a:solidFill>
              <a:srgbClr val="F0D4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1847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95C16"/>
                </a:solidFill>
              </a:rPr>
              <a:t>改进方向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03920" y="2395728"/>
            <a:ext cx="2578608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增加鼠标点击查询与搜索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支持动态删除、拖拽调整建筑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优化布局美观度并补充更多异常测试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05840" y="598932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4213D"/>
                </a:solidFill>
              </a:rPr>
              <a:t>最有价值的内容：把基础线性表结构落到可视化校园地图场景中，既体现数据结构实现，也体现算法校验、界面渲染和文件持久化的完整闭环。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978</Words>
  <Application>Microsoft Office PowerPoint</Application>
  <PresentationFormat>宽屏</PresentationFormat>
  <Paragraphs>182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北京理工大学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校园地理信息管理系统</dc:title>
  <dc:subject>校园地理信息管理系统专题汇报</dc:subject>
  <dc:creator>Codex</dc:creator>
  <cp:lastModifiedBy>1851409225@qq.com</cp:lastModifiedBy>
  <cp:revision>2</cp:revision>
  <dcterms:created xsi:type="dcterms:W3CDTF">2026-05-07T16:54:34Z</dcterms:created>
  <dcterms:modified xsi:type="dcterms:W3CDTF">2026-05-07T17:01:02Z</dcterms:modified>
</cp:coreProperties>
</file>